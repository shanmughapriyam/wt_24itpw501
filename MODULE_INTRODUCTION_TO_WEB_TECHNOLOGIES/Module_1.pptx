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736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45C74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377440" cy="2377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CLASSROOM PRIMER ON WEB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&amp; the World Wide Web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Browsers, Servers, HTTP/HTTPS, Client–Server Architecture,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&amp; Web Page Structure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31520" y="470916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045C7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80060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51760" y="470916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045C7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48006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82112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572000" y="470916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045C7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80060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02352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6492240" y="470916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045C74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480060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22592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412480" y="470916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045C74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208" y="480060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942832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Lecture &amp; Seminar Use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AF9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7967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60" y="2065264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64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The Internet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45920" y="21671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network of interconnected networks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AF9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97967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980" y="2065264"/>
            <a:ext cx="487192" cy="487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764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Internet vs. WWW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406640" y="21671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are not the same thing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AF9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53415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60" y="3619744"/>
            <a:ext cx="487192" cy="487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319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Client–Server Architecture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1645920" y="372160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request/response model behind every website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6309360" y="31546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AF9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353415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0980" y="3619744"/>
            <a:ext cx="487192" cy="4871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319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Web Browsers &amp; Servers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7406640" y="372160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ends of every web transaction</a:t>
            </a: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AF9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508863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260" y="5174224"/>
            <a:ext cx="487192" cy="4871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873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HTTP &amp; HTTPS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1645920" y="527608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that moves the Web, and how it's secured</a:t>
            </a:r>
            <a:endParaRPr lang="en-US" dirty="0"/>
          </a:p>
        </p:txBody>
      </p:sp>
      <p:sp>
        <p:nvSpPr>
          <p:cNvPr id="29" name="Shape 22"/>
          <p:cNvSpPr/>
          <p:nvPr/>
        </p:nvSpPr>
        <p:spPr>
          <a:xfrm>
            <a:off x="630936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AF9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65392" y="508863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0980" y="5174224"/>
            <a:ext cx="487192" cy="4871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6640" y="4873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HTML Basics &amp; Page Structure</a:t>
            </a:r>
            <a:endParaRPr lang="en-US" sz="2400" dirty="0"/>
          </a:p>
        </p:txBody>
      </p:sp>
      <p:sp>
        <p:nvSpPr>
          <p:cNvPr id="33" name="Text 25"/>
          <p:cNvSpPr/>
          <p:nvPr/>
        </p:nvSpPr>
        <p:spPr>
          <a:xfrm>
            <a:off x="7406640" y="527608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every web page</a:t>
            </a: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Internet?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network of networks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connects billions of computers and devices worldwide, allowing them to communicate and exchange data using a common set of rules called protocols.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9397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8529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of Networks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31363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Homes, universities, businesses and governments run their own networks — the Internet links them together.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77647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3835908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749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Protocols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8720" y="403250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agree on rules like TCP/IP so data from any device can reach any other device.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67258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4732020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6451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Many Services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88720" y="49286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file transfer, video calls and the Web all travel over the same underlying Internet.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949440" y="1463040"/>
            <a:ext cx="4663440" cy="4709160"/>
          </a:xfrm>
          <a:prstGeom prst="roundRect">
            <a:avLst>
              <a:gd name="adj" fmla="val 1961"/>
            </a:avLst>
          </a:prstGeom>
          <a:solidFill>
            <a:srgbClr val="023047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PICTURE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22376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Interconnected Networks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708392" y="2953512"/>
            <a:ext cx="1005840" cy="73152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628632" y="2770632"/>
            <a:ext cx="0" cy="9144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714232" y="3685032"/>
            <a:ext cx="1828800" cy="27432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714232" y="3685032"/>
            <a:ext cx="0" cy="6400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525512" y="4325112"/>
            <a:ext cx="1463040" cy="73152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88552" y="5056632"/>
            <a:ext cx="1280160" cy="1828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25512" y="4325112"/>
            <a:ext cx="457200" cy="118872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988552" y="5056632"/>
            <a:ext cx="1554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589520" y="283464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3047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509760" y="265176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304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595360" y="3566160"/>
            <a:ext cx="237744" cy="237744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304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0424160" y="384048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3047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406640" y="420624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304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869680" y="493776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3047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0149840" y="512064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3047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863840" y="539496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304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223760" y="5669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device or network; lines are the physical and wireless links that carry data between them.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vs. World Wide Web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used interchangeably, but they are not the same layer of technology.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81" y="217682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60020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307238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294436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and logical network of interconnected computers and cables, satellites, and wireless links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68680" y="378561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6576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at the hardware / transport level (routers, cables, IP addresses)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68680" y="449884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37083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many services: email, file transfer (FTP), video calls, gaming — not just web pages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68680" y="521208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508406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existed since the late 1960s (ARPANET)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82512" y="178308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4FAF9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02552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253" y="2176821"/>
            <a:ext cx="419527" cy="41952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34072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Wide Web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7434072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on the Internet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702552" y="307238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0"/>
          <p:cNvSpPr/>
          <p:nvPr/>
        </p:nvSpPr>
        <p:spPr>
          <a:xfrm>
            <a:off x="6931152" y="294436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interlinked documents (web pages) accessed via the Internet using HTTP/HTTPS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702552" y="3785616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2"/>
          <p:cNvSpPr/>
          <p:nvPr/>
        </p:nvSpPr>
        <p:spPr>
          <a:xfrm>
            <a:off x="6931152" y="36576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at the application / content level (HTML pages, hyperlinks, browsers)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702552" y="449884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4"/>
          <p:cNvSpPr/>
          <p:nvPr/>
        </p:nvSpPr>
        <p:spPr>
          <a:xfrm>
            <a:off x="6931152" y="437083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many services that run over the Internet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702552" y="521208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6"/>
          <p:cNvSpPr/>
          <p:nvPr/>
        </p:nvSpPr>
        <p:spPr>
          <a:xfrm>
            <a:off x="6931152" y="508406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Tim Berners-Lee in 1989 at CERN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Client–Server Architecture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works on a request–response model: clients ask, servers answer.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834640" cy="2194560"/>
          </a:xfrm>
          <a:prstGeom prst="roundRect">
            <a:avLst>
              <a:gd name="adj" fmla="val 4167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1691640" y="2761488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738" y="2856586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39136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on a user's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(PC, phone, tablet)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8714232" y="2468880"/>
            <a:ext cx="2834640" cy="2194560"/>
          </a:xfrm>
          <a:prstGeom prst="roundRect">
            <a:avLst>
              <a:gd name="adj" fmla="val 4167"/>
            </a:avLst>
          </a:prstGeom>
          <a:solidFill>
            <a:srgbClr val="023047"/>
          </a:solidFill>
          <a:ln/>
        </p:spPr>
      </p:sp>
      <p:sp>
        <p:nvSpPr>
          <p:cNvPr id="11" name="Shape 8"/>
          <p:cNvSpPr/>
          <p:nvPr/>
        </p:nvSpPr>
        <p:spPr>
          <a:xfrm>
            <a:off x="9765792" y="2761488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890" y="2856586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14232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851392" y="39136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computer that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serves web content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3474720" y="3063240"/>
            <a:ext cx="5239512" cy="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434840" y="2724912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F4FA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34840" y="2724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HTTP Request  (GET /index.html)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714232" y="3886200"/>
            <a:ext cx="0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4434840" y="4069080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F4FAF9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348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HTTP Response  (HTML, CSS, images)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8640" y="507492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4FAF9"/>
          </a:solidFill>
          <a:ln/>
        </p:spPr>
      </p:sp>
      <p:sp>
        <p:nvSpPr>
          <p:cNvPr id="22" name="Shape 18"/>
          <p:cNvSpPr/>
          <p:nvPr/>
        </p:nvSpPr>
        <p:spPr>
          <a:xfrm>
            <a:off x="713232" y="5212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5271516"/>
            <a:ext cx="338328" cy="33832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8016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Clients, One Server</a:t>
            </a: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713232" y="55046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server can respond to thousands of clients making requests at once.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343400" y="507492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4FAF9"/>
          </a:solidFill>
          <a:ln/>
        </p:spPr>
      </p:sp>
      <p:sp>
        <p:nvSpPr>
          <p:cNvPr id="27" name="Shape 22"/>
          <p:cNvSpPr/>
          <p:nvPr/>
        </p:nvSpPr>
        <p:spPr>
          <a:xfrm>
            <a:off x="4507992" y="5212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428" y="5271516"/>
            <a:ext cx="338328" cy="33832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07492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Requests</a:t>
            </a: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507992" y="55046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each HTTP request is independent — the server treats every request fresh.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138160" y="507492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4FAF9"/>
          </a:solidFill>
          <a:ln/>
        </p:spPr>
      </p:sp>
      <p:sp>
        <p:nvSpPr>
          <p:cNvPr id="32" name="Shape 26"/>
          <p:cNvSpPr/>
          <p:nvPr/>
        </p:nvSpPr>
        <p:spPr>
          <a:xfrm>
            <a:off x="8302752" y="5212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188" y="5271516"/>
            <a:ext cx="338328" cy="33832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86968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Can Be Distributed</a:t>
            </a: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8302752" y="55046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sites use many servers, load balancers, and content delivery networks (CDNs).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SIDE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Browsers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requests, interprets, and displays web content to the user.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18484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647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Requests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23444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URL you type or click and turns it into an HTTP request to a server.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285430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770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HTML/CSS/JS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23444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returned code and figures out how the page should look and behave.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20" y="386014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776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Page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1234440" y="4069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Paints text, images, layout and interactive elements onto the screen.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020" y="4865980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7823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Security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1234440" y="5074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certificates, enforces HTTPS, and sandboxes untrusted content.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0" y="178308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023047"/>
          </a:solidFill>
          <a:ln/>
        </p:spPr>
      </p:sp>
      <p:sp>
        <p:nvSpPr>
          <p:cNvPr id="22" name="Text 16"/>
          <p:cNvSpPr/>
          <p:nvPr/>
        </p:nvSpPr>
        <p:spPr>
          <a:xfrm>
            <a:off x="717804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BROWSERS &amp; ENGINES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178040" y="2468880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045C74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615184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1812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</a:t>
            </a: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7818120" y="2798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rendering engine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7178040" y="3264408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045C74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410712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818120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Firefox</a:t>
            </a: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7818120" y="3593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Gecko rendering engine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7178040" y="4059936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045C74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20624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81812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Safari</a:t>
            </a:r>
            <a:endParaRPr lang="en-US" dirty="0"/>
          </a:p>
        </p:txBody>
      </p:sp>
      <p:sp>
        <p:nvSpPr>
          <p:cNvPr id="34" name="Text 25"/>
          <p:cNvSpPr/>
          <p:nvPr/>
        </p:nvSpPr>
        <p:spPr>
          <a:xfrm>
            <a:off x="7818120" y="4389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WebKit rendering engine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7178040" y="4855464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045C74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001768"/>
            <a:ext cx="365760" cy="3657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818120" y="4928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Edge</a:t>
            </a:r>
            <a:endParaRPr lang="en-US" dirty="0"/>
          </a:p>
        </p:txBody>
      </p:sp>
      <p:sp>
        <p:nvSpPr>
          <p:cNvPr id="38" name="Text 28"/>
          <p:cNvSpPr/>
          <p:nvPr/>
        </p:nvSpPr>
        <p:spPr>
          <a:xfrm>
            <a:off x="7818120" y="5184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(Chromium-based)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7178040" y="56967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rendering engine is the part of the browser that converts HTML/CSS into pixels on screen.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SIDE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that store, process, and deliver web content on request.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4FAF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WEB SERVER DOES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25880" y="2377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for incoming HTTP/HTTPS requests on a network port (commonly 80 / 443)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31272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25880" y="30815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the requested resource — a static file (HTML, image) or triggers a program to generate one dynamically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38313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25880" y="37856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the resource into an HTTP response with status code and headers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45354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25880" y="44897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response back to the requesting client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5239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239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25880" y="51937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many simultaneous connections, logging, and security checks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5080" y="1783080"/>
            <a:ext cx="5285232" cy="4206240"/>
          </a:xfrm>
          <a:prstGeom prst="roundRect">
            <a:avLst>
              <a:gd name="adj" fmla="val 2174"/>
            </a:avLst>
          </a:prstGeom>
          <a:solidFill>
            <a:srgbClr val="023047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0116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WEB SERVER SOFTWARE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75120" y="24231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482596"/>
            <a:ext cx="338328" cy="33832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269480" y="240487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 Server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269480" y="2679192"/>
            <a:ext cx="4096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highly configurable, oldest major server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75120" y="3291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3351276"/>
            <a:ext cx="338328" cy="33832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269480" y="327355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7269480" y="3547872"/>
            <a:ext cx="4096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High-performance, popular for load balancing &amp; static content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675120" y="4160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4219956"/>
            <a:ext cx="338328" cy="33832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269480" y="4142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IIS</a:t>
            </a: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7269480" y="4416552"/>
            <a:ext cx="4096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the Windows Server platform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675120" y="5029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5088636"/>
            <a:ext cx="338328" cy="33832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269480" y="501091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(Express)</a:t>
            </a: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7269480" y="5285232"/>
            <a:ext cx="4096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JavaScript run server-side to build dynamic apps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Request–Response Cycle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between typing a URL and seeing a page.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201168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Enter a URL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31520" y="294436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www.example.com or click a link in your browser.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142232" y="25831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400" dirty="0"/>
          </a:p>
        </p:txBody>
      </p:sp>
      <p:sp>
        <p:nvSpPr>
          <p:cNvPr id="12" name="Shape 9"/>
          <p:cNvSpPr/>
          <p:nvPr/>
        </p:nvSpPr>
        <p:spPr>
          <a:xfrm>
            <a:off x="4297680" y="1828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011680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80560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Lookup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480560" y="294436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name is translated into a numeric IP address.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891272" y="25831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400" dirty="0"/>
          </a:p>
        </p:txBody>
      </p:sp>
      <p:sp>
        <p:nvSpPr>
          <p:cNvPr id="19" name="Shape 15"/>
          <p:cNvSpPr/>
          <p:nvPr/>
        </p:nvSpPr>
        <p:spPr>
          <a:xfrm>
            <a:off x="8046720" y="1828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7"/>
          <p:cNvSpPr/>
          <p:nvPr/>
        </p:nvSpPr>
        <p:spPr>
          <a:xfrm>
            <a:off x="82296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0232" y="2011680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29600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Sent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229600" y="294436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an HTTP request to the server at that IP address.</a:t>
            </a: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54864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1520" y="4251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7" name="Text 22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4251960"/>
            <a:ext cx="420624" cy="4206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1520" y="4846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Processes It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731520" y="518464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locates/generates the requested resource.</a:t>
            </a: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4142232" y="48234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400" dirty="0"/>
          </a:p>
        </p:txBody>
      </p:sp>
      <p:sp>
        <p:nvSpPr>
          <p:cNvPr id="32" name="Shape 26"/>
          <p:cNvSpPr/>
          <p:nvPr/>
        </p:nvSpPr>
        <p:spPr>
          <a:xfrm>
            <a:off x="429768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480560" y="4251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4" name="Text 28"/>
          <p:cNvSpPr/>
          <p:nvPr/>
        </p:nvSpPr>
        <p:spPr>
          <a:xfrm>
            <a:off x="44805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1192" y="4251960"/>
            <a:ext cx="420624" cy="42062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480560" y="4846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</a:t>
            </a:r>
            <a:endParaRPr lang="en-US" sz="2400" dirty="0"/>
          </a:p>
        </p:txBody>
      </p:sp>
      <p:sp>
        <p:nvSpPr>
          <p:cNvPr id="37" name="Text 30"/>
          <p:cNvSpPr/>
          <p:nvPr/>
        </p:nvSpPr>
        <p:spPr>
          <a:xfrm>
            <a:off x="4480560" y="518464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back HTML, CSS, JS, images, and a status code.</a:t>
            </a: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7891272" y="48234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400" dirty="0"/>
          </a:p>
        </p:txBody>
      </p:sp>
      <p:sp>
        <p:nvSpPr>
          <p:cNvPr id="39" name="Shape 32"/>
          <p:cNvSpPr/>
          <p:nvPr/>
        </p:nvSpPr>
        <p:spPr>
          <a:xfrm>
            <a:off x="804672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229600" y="4251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1" name="Text 34"/>
          <p:cNvSpPr/>
          <p:nvPr/>
        </p:nvSpPr>
        <p:spPr>
          <a:xfrm>
            <a:off x="82296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0232" y="4251960"/>
            <a:ext cx="420624" cy="42062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8229600" y="4846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Rendered</a:t>
            </a:r>
            <a:endParaRPr lang="en-US" sz="2400" dirty="0"/>
          </a:p>
        </p:txBody>
      </p:sp>
      <p:sp>
        <p:nvSpPr>
          <p:cNvPr id="44" name="Text 36"/>
          <p:cNvSpPr/>
          <p:nvPr/>
        </p:nvSpPr>
        <p:spPr>
          <a:xfrm>
            <a:off x="8229600" y="518464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parses the response and displays the finished page.</a:t>
            </a: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793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— HyperText Transfer Protocol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 the </a:t>
            </a: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rules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browsers and servers follow to request and deliver web resources such as pages, images, and data.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HTTP METHODS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2402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 from the server (e.g., load a page)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28346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new data to the server (e.g., submit a form)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34290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 existing resource on the server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23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0233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resource from the server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STATUS CODES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51663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70432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success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51663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13632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Permanently — redirect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6692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70432" y="5669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— resource missing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56692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13632" y="5669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Server Error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182880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023047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REQUEST/RESPONSE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720840" y="246888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045C74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03720" y="28346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/index.html HTTP/1.1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www.example.com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User-Agent: Mozilla/5.0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 text/html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20840" y="411480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045C74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03720" y="448056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text/html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Content-Length: 1256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&lt;html&gt;...page content...&lt;/html&gt;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084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 a stateless, text-based protocol — each request/response pair stands alone.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— Securing the Web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is HTTP wrapped in an encryption layer (TLS/SSL) that protects data in transit.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A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5B728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70" y="227777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600200" y="24871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· Unencrypted · Data readable by anyone intercepting 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08076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23047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21945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290" y="227777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7132320" y="24871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443 · Encrypted with TLS/SSL · Data unreadable to eavesdroppers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HTTPS MATTERS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AF9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20" y="418018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77240" y="4956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data (passwords, card numbers) so third parties can't read it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343400" y="3931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AF9"/>
          </a:solidFill>
          <a:ln/>
        </p:spPr>
      </p:sp>
      <p:sp>
        <p:nvSpPr>
          <p:cNvPr id="22" name="Shape 17"/>
          <p:cNvSpPr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7380" y="4180180"/>
            <a:ext cx="372161" cy="3721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4572000" y="4956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data isn't altered or corrupted while traveling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8138160" y="39319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AF9"/>
          </a:solidFill>
          <a:ln/>
        </p:spPr>
      </p:sp>
      <p:sp>
        <p:nvSpPr>
          <p:cNvPr id="27" name="Shape 21"/>
          <p:cNvSpPr/>
          <p:nvPr/>
        </p:nvSpPr>
        <p:spPr>
          <a:xfrm>
            <a:off x="836676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2140" y="4180180"/>
            <a:ext cx="372161" cy="37216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36676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8366760" y="4956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confirm you're really talking to the intended website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48640" y="5532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padlock icon in the address bar — it indicates a valid HTTPS connection.</a:t>
            </a: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Basics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 — the standard language used to structure content on the Web.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42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HTML DOCUMENT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68680" y="2377440"/>
            <a:ext cx="4572000" cy="3429000"/>
          </a:xfrm>
          <a:prstGeom prst="roundRect">
            <a:avLst>
              <a:gd name="adj" fmla="val 2133"/>
            </a:avLst>
          </a:prstGeom>
          <a:solidFill>
            <a:srgbClr val="045C7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51460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Page&lt;/title&gt;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&lt;h1&gt;Hello, World!&lt;/h1&gt;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&lt;p&gt;This is a paragraph.&lt;/p&gt;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href="page2.html"&gt;Next page&lt;/a&gt;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dirty="0"/>
          </a:p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CFF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140" y="1848460"/>
            <a:ext cx="372161" cy="37216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6560" y="1764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&amp; Tags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766560" y="2057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wrapped in tags like &lt;p&gt; and &lt;/p&gt;; most tags come in opening/closing pairs.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80760" y="2788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140" y="2854300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66560" y="2770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766560" y="3063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information inside a tag, e.g. href in &lt;a href="..."&gt;, giving elements properties.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080760" y="3794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140" y="386014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37764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766560" y="4069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sit inside other elements, forming a hierarchical tree of content.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080760" y="4800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6140" y="4865980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4782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766560" y="5074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&lt;a&gt; tag connects pages together — the 'links' that make the Web a web.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Page Structure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document forms a tree of nested elements — the Document Object Model (DOM).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&lt;html&gt;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743200" y="274320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3680" y="274320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474720" y="2331720"/>
            <a:ext cx="2194560" cy="411480"/>
          </a:xfrm>
          <a:prstGeom prst="line">
            <a:avLst/>
          </a:prstGeom>
          <a:noFill/>
          <a:ln w="15875">
            <a:solidFill>
              <a:srgbClr val="8FA6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2331720"/>
            <a:ext cx="1645920" cy="411480"/>
          </a:xfrm>
          <a:prstGeom prst="line">
            <a:avLst/>
          </a:prstGeom>
          <a:noFill/>
          <a:ln w="15875">
            <a:solidFill>
              <a:srgbClr val="8FA6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331720"/>
            <a:ext cx="0" cy="411480"/>
          </a:xfrm>
          <a:prstGeom prst="line">
            <a:avLst/>
          </a:prstGeom>
          <a:noFill/>
          <a:ln w="15875">
            <a:solidFill>
              <a:srgbClr val="8FA6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61188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92024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606040" y="3200400"/>
            <a:ext cx="868680" cy="411480"/>
          </a:xfrm>
          <a:prstGeom prst="line">
            <a:avLst/>
          </a:prstGeom>
          <a:noFill/>
          <a:ln w="15875">
            <a:solidFill>
              <a:srgbClr val="8FA6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361188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57800" y="361188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58000" y="361188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&lt;a&gt;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458200" y="361188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&lt;img&gt;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343400" y="3200400"/>
            <a:ext cx="2971800" cy="411480"/>
          </a:xfrm>
          <a:prstGeom prst="line">
            <a:avLst/>
          </a:prstGeom>
          <a:noFill/>
          <a:ln w="15875">
            <a:solidFill>
              <a:srgbClr val="8FA6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3200400"/>
            <a:ext cx="1371600" cy="411480"/>
          </a:xfrm>
          <a:prstGeom prst="line">
            <a:avLst/>
          </a:prstGeom>
          <a:noFill/>
          <a:ln w="15875">
            <a:solidFill>
              <a:srgbClr val="8FA6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3200400"/>
            <a:ext cx="228600" cy="411480"/>
          </a:xfrm>
          <a:prstGeom prst="line">
            <a:avLst/>
          </a:prstGeom>
          <a:noFill/>
          <a:ln w="15875">
            <a:solidFill>
              <a:srgbClr val="8FA6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3200400"/>
            <a:ext cx="1828800" cy="411480"/>
          </a:xfrm>
          <a:prstGeom prst="line">
            <a:avLst/>
          </a:prstGeom>
          <a:noFill/>
          <a:ln w="15875">
            <a:solidFill>
              <a:srgbClr val="8FA6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63040" y="4389120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463040" y="4389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Page"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560320" y="4069080"/>
            <a:ext cx="45720" cy="320040"/>
          </a:xfrm>
          <a:prstGeom prst="line">
            <a:avLst/>
          </a:prstGeom>
          <a:noFill/>
          <a:ln w="15875">
            <a:solidFill>
              <a:srgbClr val="8FA6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4389120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0" y="4389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"Hello, World!"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343400" y="4069080"/>
            <a:ext cx="594360" cy="320040"/>
          </a:xfrm>
          <a:prstGeom prst="line">
            <a:avLst/>
          </a:prstGeom>
          <a:noFill/>
          <a:ln w="15875">
            <a:solidFill>
              <a:srgbClr val="8FA6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045C7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8941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470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is the physical/logical network; the Web is a service that runs on top of it.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263347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698852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51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 interaction follows a client–server, request–response pattern.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40080" y="34381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503524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4564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request and render content; servers store, process, and deliver it.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640080" y="424281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308196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2611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defines the rules of exchange; HTTPS adds encryption via TLS/SSL for safety.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640080" y="50474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460" y="5112868"/>
            <a:ext cx="372161" cy="37216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50657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structures content into nested elements, forming the DOM tree of a page.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1" name="Text 14"/>
          <p:cNvSpPr/>
          <p:nvPr/>
        </p:nvSpPr>
        <p:spPr>
          <a:xfrm>
            <a:off x="873252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1527</Words>
  <Application>Microsoft Office PowerPoint</Application>
  <PresentationFormat>Widescreen</PresentationFormat>
  <Paragraphs>255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Internet, WWW &amp; Web Fundamentals</dc:title>
  <dc:subject>PptxGenJS Presentation</dc:subject>
  <dc:creator>Shanmughapriya</dc:creator>
  <cp:lastModifiedBy>Shanmughapriya M</cp:lastModifiedBy>
  <cp:revision>3</cp:revision>
  <dcterms:created xsi:type="dcterms:W3CDTF">2026-07-02T05:25:19Z</dcterms:created>
  <dcterms:modified xsi:type="dcterms:W3CDTF">2026-07-20T06:43:30Z</dcterms:modified>
</cp:coreProperties>
</file>
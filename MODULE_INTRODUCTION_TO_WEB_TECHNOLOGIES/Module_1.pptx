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63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6736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045C74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2377440" cy="2377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PRIMER ON WEB TECHNOLOGY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9659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&amp; the World Wide Web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Browsers, Servers, HTTP/HTTPS, Client–Server Architecture,</a:t>
            </a:r>
            <a:endParaRPr lang="en-US" sz="2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Basics &amp; Web Page Structure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470916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45C74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0060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61872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651760" y="470916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45C7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4800600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82112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4572000" y="470916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45C7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0600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02352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492240" y="470916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45C74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80060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22592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412480" y="470916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45C74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8006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942832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73152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8F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Lecture &amp; Seminar Use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7967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260" y="2065264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64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The Internet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645920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network of interconnected networks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6309360" y="160020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65392" y="197967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980" y="2065264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764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Internet vs. WWW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7406640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are not the same thing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548640" y="31546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53415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260" y="3619744"/>
            <a:ext cx="487192" cy="4871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319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Client–Server Architecture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1645920" y="372160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request/response model behind every website</a:t>
            </a: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6309360" y="31546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65392" y="353415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0980" y="3619744"/>
            <a:ext cx="487192" cy="4871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3319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Web Browsers &amp; Servers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7406640" y="372160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ends of every web transaction</a:t>
            </a:r>
            <a:endParaRPr lang="en-US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04672" y="508863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260" y="5174224"/>
            <a:ext cx="487192" cy="48719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487375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HTTP &amp; HTTPS</a:t>
            </a:r>
            <a:endParaRPr lang="en-US" sz="2400" dirty="0"/>
          </a:p>
        </p:txBody>
      </p:sp>
      <p:sp>
        <p:nvSpPr>
          <p:cNvPr id="28" name="Text 21"/>
          <p:cNvSpPr/>
          <p:nvPr/>
        </p:nvSpPr>
        <p:spPr>
          <a:xfrm>
            <a:off x="1645920" y="527608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that moves the Web, and how it's secured</a:t>
            </a:r>
            <a:endParaRPr lang="en-US" dirty="0"/>
          </a:p>
        </p:txBody>
      </p:sp>
      <p:sp>
        <p:nvSpPr>
          <p:cNvPr id="29" name="Shape 22"/>
          <p:cNvSpPr/>
          <p:nvPr/>
        </p:nvSpPr>
        <p:spPr>
          <a:xfrm>
            <a:off x="6309360" y="470916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4FAF9"/>
          </a:solidFill>
          <a:ln/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565392" y="508863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0980" y="5174224"/>
            <a:ext cx="487192" cy="4871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406640" y="487375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HTML Basics &amp; Page Structure</a:t>
            </a:r>
            <a:endParaRPr lang="en-US" sz="2400" dirty="0"/>
          </a:p>
        </p:txBody>
      </p:sp>
      <p:sp>
        <p:nvSpPr>
          <p:cNvPr id="33" name="Text 25"/>
          <p:cNvSpPr/>
          <p:nvPr/>
        </p:nvSpPr>
        <p:spPr>
          <a:xfrm>
            <a:off x="7406640" y="527608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every web page</a:t>
            </a: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Internet?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network of networks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connects billions of computers and devices worldwide, allowing them to communicate and exchange data using a common set of rules called protocols.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2939796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28529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of Networks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88720" y="31363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universities, businesses and governments run their own networks — the Internet links them together.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" y="3835908"/>
            <a:ext cx="338328" cy="338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3749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Protocols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88720" y="403250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agree on rules like TCP/IP so data from any device can reach any other device.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67258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" y="4732020"/>
            <a:ext cx="338328" cy="338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46451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Many Services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188720" y="49286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file transfer, video calls and the Web all travel over the same underlying Internet.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49440" y="1463040"/>
            <a:ext cx="4663440" cy="4709160"/>
          </a:xfrm>
          <a:prstGeom prst="roundRect">
            <a:avLst>
              <a:gd name="adj" fmla="val 1961"/>
            </a:avLst>
          </a:prstGeom>
          <a:solidFill>
            <a:srgbClr val="023047"/>
          </a:solidFill>
          <a:ln/>
        </p:spPr>
      </p:sp>
      <p:sp>
        <p:nvSpPr>
          <p:cNvPr id="18" name="Text 13"/>
          <p:cNvSpPr/>
          <p:nvPr/>
        </p:nvSpPr>
        <p:spPr>
          <a:xfrm>
            <a:off x="7223760" y="1691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PICTURE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722376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Interconnected Networks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7708392" y="2953512"/>
            <a:ext cx="1005840" cy="73152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628632" y="2770632"/>
            <a:ext cx="0" cy="91440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714232" y="3685032"/>
            <a:ext cx="1828800" cy="27432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714232" y="3685032"/>
            <a:ext cx="0" cy="6400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525512" y="4325112"/>
            <a:ext cx="1463040" cy="73152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988552" y="5056632"/>
            <a:ext cx="1280160" cy="1828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525512" y="4325112"/>
            <a:ext cx="457200" cy="118872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988552" y="5056632"/>
            <a:ext cx="155448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589520" y="283464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509760" y="265176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595360" y="3566160"/>
            <a:ext cx="237744" cy="237744"/>
          </a:xfrm>
          <a:prstGeom prst="ellipse">
            <a:avLst/>
          </a:prstGeom>
          <a:solidFill>
            <a:srgbClr val="02C39A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424160" y="384048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7406640" y="420624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8869680" y="493776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10149840" y="512064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863840" y="5394960"/>
            <a:ext cx="237744" cy="23774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02304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23760" y="56692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device or network; lines are the physical and wireless links that carry data between them.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vs. World Wide Web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used interchangeably, but they are not the same layer of technology.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023047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031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381" y="2176821"/>
            <a:ext cx="419527" cy="41952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600200" y="2560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68680" y="3072384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294436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and logical network of interconnected computers and cables, satellites, and wireless links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68680" y="3785616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0"/>
          <p:cNvSpPr/>
          <p:nvPr/>
        </p:nvSpPr>
        <p:spPr>
          <a:xfrm>
            <a:off x="1097280" y="36576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at the hardware / transport level (routers, cables, IP addresses)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68680" y="4498848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2"/>
          <p:cNvSpPr/>
          <p:nvPr/>
        </p:nvSpPr>
        <p:spPr>
          <a:xfrm>
            <a:off x="1097280" y="437083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many services: email, file transfer (FTP), video calls, gaming — not just web pages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68680" y="521208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4"/>
          <p:cNvSpPr/>
          <p:nvPr/>
        </p:nvSpPr>
        <p:spPr>
          <a:xfrm>
            <a:off x="1097280" y="508406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existed since the late 1960s (ARPANET)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382512" y="178308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4FAF9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702552" y="210312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253" y="2176821"/>
            <a:ext cx="419527" cy="41952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434072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World Wide Web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7434072" y="2560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on the Internet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702552" y="3072384"/>
            <a:ext cx="82296" cy="822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0"/>
          <p:cNvSpPr/>
          <p:nvPr/>
        </p:nvSpPr>
        <p:spPr>
          <a:xfrm>
            <a:off x="6931152" y="294436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interlinked documents (web pages) accessed via the Internet using HTTP/HTTPS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702552" y="3785616"/>
            <a:ext cx="82296" cy="822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36576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at the application / content level (HTML pages, hyperlinks, browsers)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702552" y="4498848"/>
            <a:ext cx="82296" cy="822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4"/>
          <p:cNvSpPr/>
          <p:nvPr/>
        </p:nvSpPr>
        <p:spPr>
          <a:xfrm>
            <a:off x="6931152" y="437083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many services that run over the Internet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702552" y="5212080"/>
            <a:ext cx="82296" cy="822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6"/>
          <p:cNvSpPr/>
          <p:nvPr/>
        </p:nvSpPr>
        <p:spPr>
          <a:xfrm>
            <a:off x="6931152" y="508406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by Tim Berners-Lee in 1989 at CERN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Client–Server Architecture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works on a request–response model: clients ask, servers answer.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834640" cy="2194560"/>
          </a:xfrm>
          <a:prstGeom prst="roundRect">
            <a:avLst>
              <a:gd name="adj" fmla="val 4167"/>
            </a:avLst>
          </a:prstGeom>
          <a:solidFill>
            <a:srgbClr val="023047"/>
          </a:solidFill>
          <a:ln/>
        </p:spPr>
      </p:sp>
      <p:sp>
        <p:nvSpPr>
          <p:cNvPr id="6" name="Shape 4"/>
          <p:cNvSpPr/>
          <p:nvPr/>
        </p:nvSpPr>
        <p:spPr>
          <a:xfrm>
            <a:off x="1691640" y="27614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6738" y="2856586"/>
            <a:ext cx="541325" cy="5413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77240" y="39136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 on a user's</a:t>
            </a:r>
            <a:endParaRPr lang="en-US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(PC, phone, tablet)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8714232" y="2468880"/>
            <a:ext cx="2834640" cy="2194560"/>
          </a:xfrm>
          <a:prstGeom prst="roundRect">
            <a:avLst>
              <a:gd name="adj" fmla="val 4167"/>
            </a:avLst>
          </a:prstGeom>
          <a:solidFill>
            <a:srgbClr val="023047"/>
          </a:solidFill>
          <a:ln/>
        </p:spPr>
      </p:sp>
      <p:sp>
        <p:nvSpPr>
          <p:cNvPr id="11" name="Shape 8"/>
          <p:cNvSpPr/>
          <p:nvPr/>
        </p:nvSpPr>
        <p:spPr>
          <a:xfrm>
            <a:off x="9765792" y="2761488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0890" y="2856586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714232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8851392" y="39136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computer that</a:t>
            </a:r>
            <a:endParaRPr lang="en-US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serves web content</a:t>
            </a:r>
            <a:endParaRPr lang="en-US" dirty="0"/>
          </a:p>
        </p:txBody>
      </p:sp>
      <p:sp>
        <p:nvSpPr>
          <p:cNvPr id="15" name="Shape 11"/>
          <p:cNvSpPr/>
          <p:nvPr/>
        </p:nvSpPr>
        <p:spPr>
          <a:xfrm>
            <a:off x="3474720" y="3063240"/>
            <a:ext cx="5239512" cy="0"/>
          </a:xfrm>
          <a:prstGeom prst="line">
            <a:avLst/>
          </a:prstGeom>
          <a:noFill/>
          <a:ln w="2857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434840" y="2724912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F4FAF9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34840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HTTP Request  (GET /index.html)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8714232" y="3886200"/>
            <a:ext cx="0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4434840" y="406908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F4FAF9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4348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HTTP Response  (HTML, CSS, images)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507492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A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13232" y="52120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" y="5271516"/>
            <a:ext cx="338328" cy="3383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28016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Clients, One Server</a:t>
            </a: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713232" y="55046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server can respond to thousands of clients making requests at once.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343400" y="507492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AF9"/>
          </a:solidFill>
          <a:ln/>
        </p:spPr>
      </p:sp>
      <p:sp>
        <p:nvSpPr>
          <p:cNvPr id="27" name="Shape 22"/>
          <p:cNvSpPr/>
          <p:nvPr/>
        </p:nvSpPr>
        <p:spPr>
          <a:xfrm>
            <a:off x="4507992" y="52120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7428" y="5271516"/>
            <a:ext cx="338328" cy="33832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07492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Requests</a:t>
            </a: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507992" y="55046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HTTP request is independent — the server treats every request fresh.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38160" y="507492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AF9"/>
          </a:solidFill>
          <a:ln/>
        </p:spPr>
      </p:sp>
      <p:sp>
        <p:nvSpPr>
          <p:cNvPr id="32" name="Shape 26"/>
          <p:cNvSpPr/>
          <p:nvPr/>
        </p:nvSpPr>
        <p:spPr>
          <a:xfrm>
            <a:off x="8302752" y="52120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2188" y="5271516"/>
            <a:ext cx="338328" cy="33832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86968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Can Be Distributed</a:t>
            </a: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8302752" y="55046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sites use many servers, load balancers, and content delivery networks (CDNs).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SIDE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Browsers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that requests, interprets, and displays web content to the user.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1848460"/>
            <a:ext cx="372161" cy="372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7647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Requests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234440" y="20574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URL you type or click and turns it into an HTTP request to a server.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20" y="2854300"/>
            <a:ext cx="372161" cy="37216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7706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HTML/CSS/JS</a:t>
            </a: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1234440" y="3063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returned code and figures out how the page should look and behave.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20" y="3860140"/>
            <a:ext cx="372161" cy="37216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the Page</a:t>
            </a: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234440" y="4069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Paints text, images, layout and interactive elements onto the screen.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020" y="4865980"/>
            <a:ext cx="372161" cy="37216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34440" y="4782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Security</a:t>
            </a: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1234440" y="5074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certificates, enforces HTTPS, and sandboxes untrusted content.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858000" y="1783080"/>
            <a:ext cx="4754880" cy="4206240"/>
          </a:xfrm>
          <a:prstGeom prst="roundRect">
            <a:avLst>
              <a:gd name="adj" fmla="val 2174"/>
            </a:avLst>
          </a:prstGeom>
          <a:solidFill>
            <a:srgbClr val="023047"/>
          </a:solidFill>
          <a:ln/>
        </p:spPr>
      </p:sp>
      <p:sp>
        <p:nvSpPr>
          <p:cNvPr id="22" name="Text 16"/>
          <p:cNvSpPr/>
          <p:nvPr/>
        </p:nvSpPr>
        <p:spPr>
          <a:xfrm>
            <a:off x="7178040" y="2011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BROWSERS &amp; ENGINES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7178040" y="2468880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045C74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615184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818120" y="2542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Chrome</a:t>
            </a: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7818120" y="2798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rendering engine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7178040" y="3264408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045C74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3410712"/>
            <a:ext cx="365760" cy="36576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81812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Mozilla Firefox</a:t>
            </a:r>
            <a:endParaRPr lang="en-US" dirty="0"/>
          </a:p>
        </p:txBody>
      </p:sp>
      <p:sp>
        <p:nvSpPr>
          <p:cNvPr id="30" name="Text 22"/>
          <p:cNvSpPr/>
          <p:nvPr/>
        </p:nvSpPr>
        <p:spPr>
          <a:xfrm>
            <a:off x="7818120" y="3593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Gecko rendering engine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7178040" y="4059936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045C74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4206240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81812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Safari</a:t>
            </a:r>
            <a:endParaRPr lang="en-US" dirty="0"/>
          </a:p>
        </p:txBody>
      </p:sp>
      <p:sp>
        <p:nvSpPr>
          <p:cNvPr id="34" name="Text 25"/>
          <p:cNvSpPr/>
          <p:nvPr/>
        </p:nvSpPr>
        <p:spPr>
          <a:xfrm>
            <a:off x="781812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WebKit rendering engine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7178040" y="4855464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045C74"/>
          </a:solidFill>
          <a:ln/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5001768"/>
            <a:ext cx="365760" cy="365760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818120" y="4928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Edge</a:t>
            </a:r>
            <a:endParaRPr lang="en-US" dirty="0"/>
          </a:p>
        </p:txBody>
      </p:sp>
      <p:sp>
        <p:nvSpPr>
          <p:cNvPr id="38" name="Text 28"/>
          <p:cNvSpPr/>
          <p:nvPr/>
        </p:nvSpPr>
        <p:spPr>
          <a:xfrm>
            <a:off x="7818120" y="5184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(Chromium-based)</a:t>
            </a:r>
            <a:endParaRPr lang="en-US" sz="1200" dirty="0"/>
          </a:p>
        </p:txBody>
      </p:sp>
      <p:sp>
        <p:nvSpPr>
          <p:cNvPr id="39" name="Text 29"/>
          <p:cNvSpPr/>
          <p:nvPr/>
        </p:nvSpPr>
        <p:spPr>
          <a:xfrm>
            <a:off x="7178040" y="569671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rendering engine is the part of the browser that converts HTML/CSS into pixels on screen.</a:t>
            </a:r>
            <a:endParaRPr lang="en-US" sz="1200" dirty="0"/>
          </a:p>
        </p:txBody>
      </p:sp>
      <p:sp>
        <p:nvSpPr>
          <p:cNvPr id="40" name="Text 30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SIDE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and software that store, process, and deliver web content on request.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4FAF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WEB SERVER DOES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25880" y="2377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for incoming HTTP/HTTPS requests on a network port (commonly 80 / 443)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68680" y="31272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25880" y="308152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Locates the requested resource — a static file (HTML, image) or triggers a program to generate one dynamically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68680" y="383133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25880" y="37856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the resource into an HTTP response with status code and headers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8680" y="45354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325880" y="44897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response back to the requesting client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68680" y="5239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325880" y="51937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many simultaneous connections, logging, and security checks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1783080"/>
            <a:ext cx="5285232" cy="4206240"/>
          </a:xfrm>
          <a:prstGeom prst="roundRect">
            <a:avLst>
              <a:gd name="adj" fmla="val 2174"/>
            </a:avLst>
          </a:prstGeom>
          <a:solidFill>
            <a:srgbClr val="023047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20116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WEB SERVER SOFTWARE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556" y="2482596"/>
            <a:ext cx="338328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269480" y="240487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HTTP Server</a:t>
            </a: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7269480" y="2679192"/>
            <a:ext cx="4096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highly configurable, oldest major server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675120" y="3291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556" y="3351276"/>
            <a:ext cx="338328" cy="338328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269480" y="327355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7269480" y="3547872"/>
            <a:ext cx="4096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High-performance, popular for load balancing &amp; static content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556" y="4219956"/>
            <a:ext cx="338328" cy="33832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269480" y="4142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IIS</a:t>
            </a:r>
            <a:endParaRPr lang="en-US" dirty="0"/>
          </a:p>
        </p:txBody>
      </p:sp>
      <p:sp>
        <p:nvSpPr>
          <p:cNvPr id="35" name="Text 30"/>
          <p:cNvSpPr/>
          <p:nvPr/>
        </p:nvSpPr>
        <p:spPr>
          <a:xfrm>
            <a:off x="7269480" y="4416552"/>
            <a:ext cx="4096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with the Windows Server platform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675120" y="502920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556" y="5088636"/>
            <a:ext cx="338328" cy="33832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269480" y="501091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(Express)</a:t>
            </a: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7269480" y="5285232"/>
            <a:ext cx="4096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JavaScript run server-side to build dynamic apps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Request–Response Cycle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between typing a URL and seeing a page.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2011680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606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Enter a URL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31520" y="294436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www.example.com or click a link in your browser.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142232" y="25831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2011680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80560" y="2606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Lookup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4480560" y="294436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domain name is translated into a numeric IP address.</a:t>
            </a: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891272" y="25831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44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2960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1" name="Text 17"/>
          <p:cNvSpPr/>
          <p:nvPr/>
        </p:nvSpPr>
        <p:spPr>
          <a:xfrm>
            <a:off x="82296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2011680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29600" y="2606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Sent</a:t>
            </a:r>
            <a:endParaRPr lang="en-US" sz="2400" dirty="0"/>
          </a:p>
        </p:txBody>
      </p:sp>
      <p:sp>
        <p:nvSpPr>
          <p:cNvPr id="24" name="Text 19"/>
          <p:cNvSpPr/>
          <p:nvPr/>
        </p:nvSpPr>
        <p:spPr>
          <a:xfrm>
            <a:off x="8229600" y="294436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sends an HTTP request to the server at that IP address.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31520" y="4251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7" name="Text 22"/>
          <p:cNvSpPr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4251960"/>
            <a:ext cx="420624" cy="42062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3152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Processes It</a:t>
            </a:r>
            <a:endParaRPr lang="en-US" sz="2400" dirty="0"/>
          </a:p>
        </p:txBody>
      </p:sp>
      <p:sp>
        <p:nvSpPr>
          <p:cNvPr id="30" name="Text 24"/>
          <p:cNvSpPr/>
          <p:nvPr/>
        </p:nvSpPr>
        <p:spPr>
          <a:xfrm>
            <a:off x="731520" y="518464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locates/generates the requested resource.</a:t>
            </a: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4142232" y="48234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4400" dirty="0"/>
          </a:p>
        </p:txBody>
      </p:sp>
      <p:sp>
        <p:nvSpPr>
          <p:cNvPr id="32" name="Shape 26"/>
          <p:cNvSpPr/>
          <p:nvPr/>
        </p:nvSpPr>
        <p:spPr>
          <a:xfrm>
            <a:off x="4297680" y="40690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480560" y="4251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4" name="Text 28"/>
          <p:cNvSpPr/>
          <p:nvPr/>
        </p:nvSpPr>
        <p:spPr>
          <a:xfrm>
            <a:off x="44805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1192" y="4251960"/>
            <a:ext cx="420624" cy="42062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448056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</a:t>
            </a:r>
            <a:endParaRPr lang="en-US" sz="2400" dirty="0"/>
          </a:p>
        </p:txBody>
      </p:sp>
      <p:sp>
        <p:nvSpPr>
          <p:cNvPr id="37" name="Text 30"/>
          <p:cNvSpPr/>
          <p:nvPr/>
        </p:nvSpPr>
        <p:spPr>
          <a:xfrm>
            <a:off x="4480560" y="518464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back HTML, CSS, JS, images, and a status code.</a:t>
            </a: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7891272" y="48234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4400" dirty="0"/>
          </a:p>
        </p:txBody>
      </p:sp>
      <p:sp>
        <p:nvSpPr>
          <p:cNvPr id="39" name="Shape 32"/>
          <p:cNvSpPr/>
          <p:nvPr/>
        </p:nvSpPr>
        <p:spPr>
          <a:xfrm>
            <a:off x="8046720" y="40690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AF9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8229600" y="4251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41" name="Text 34"/>
          <p:cNvSpPr/>
          <p:nvPr/>
        </p:nvSpPr>
        <p:spPr>
          <a:xfrm>
            <a:off x="822960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00232" y="4251960"/>
            <a:ext cx="420624" cy="42062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22960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Rendered</a:t>
            </a:r>
            <a:endParaRPr lang="en-US" sz="2400" dirty="0"/>
          </a:p>
        </p:txBody>
      </p:sp>
      <p:sp>
        <p:nvSpPr>
          <p:cNvPr id="44" name="Text 36"/>
          <p:cNvSpPr/>
          <p:nvPr/>
        </p:nvSpPr>
        <p:spPr>
          <a:xfrm>
            <a:off x="8229600" y="518464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parses the response and displays the finished page.</a:t>
            </a:r>
            <a:endParaRPr lang="en-US" dirty="0"/>
          </a:p>
        </p:txBody>
      </p:sp>
      <p:sp>
        <p:nvSpPr>
          <p:cNvPr id="45" name="Text 37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793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— HyperText Transfer Protocol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the </a:t>
            </a: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of rules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browsers and servers follow to request and deliver web resources such as pages, images, and data.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HTTP METHODS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96012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402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24028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data from the server (e.g., load a page)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96012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8346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28346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new data to the server (e.g., submit a form)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96012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290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91640" y="34290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 existing resource on the server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96012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0233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0233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resource from the server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5166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70432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— success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5166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913632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Permanently — redirect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669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170432" y="5669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Found — resource missing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5669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913632" y="5669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Server Error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82880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023047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20574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2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REQUEST/RESPONSE</a:t>
            </a: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720840" y="2468880"/>
            <a:ext cx="4572000" cy="1463040"/>
          </a:xfrm>
          <a:prstGeom prst="roundRect">
            <a:avLst>
              <a:gd name="adj" fmla="val 5000"/>
            </a:avLst>
          </a:prstGeom>
          <a:solidFill>
            <a:srgbClr val="045C74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2560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03720" y="2834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Mozilla/5.0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720840" y="4114800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045C74"/>
          </a:solidFill>
          <a:ln/>
        </p:spPr>
      </p:sp>
      <p:sp>
        <p:nvSpPr>
          <p:cNvPr id="33" name="Text 31"/>
          <p:cNvSpPr/>
          <p:nvPr/>
        </p:nvSpPr>
        <p:spPr>
          <a:xfrm>
            <a:off x="69037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903720" y="448056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1256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&lt;html&gt;...page content...&lt;/html&gt;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20840" y="5852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a stateless, text-based protocol — each request/response pair stands alone.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 — Securing the Web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is HTTP wrapped in an encryption layer (TLS/SSL) that protects data in transit.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AF9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5B728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70" y="2277770"/>
            <a:ext cx="473659" cy="4736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600200" y="24871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 · Unencrypted · Data readable by anyone intercepting it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80760" y="18288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023047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21945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290" y="227777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7132320" y="24871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F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443 · Encrypted with TLS/SSL · Data unreadable to eavesdroppers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4864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HTTPS MATTERS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548640" y="39319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AF9"/>
          </a:solidFill>
          <a:ln/>
        </p:spPr>
      </p:sp>
      <p:sp>
        <p:nvSpPr>
          <p:cNvPr id="17" name="Shape 13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20" y="4180180"/>
            <a:ext cx="372161" cy="37216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777240" y="4956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Encrypts data (passwords, card numbers) so third parties can't read it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343400" y="39319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AF9"/>
          </a:solidFill>
          <a:ln/>
        </p:spPr>
      </p:sp>
      <p:sp>
        <p:nvSpPr>
          <p:cNvPr id="22" name="Shape 17"/>
          <p:cNvSpPr/>
          <p:nvPr/>
        </p:nvSpPr>
        <p:spPr>
          <a:xfrm>
            <a:off x="4572000" y="4114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7380" y="4180180"/>
            <a:ext cx="372161" cy="37216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2000" dirty="0"/>
          </a:p>
        </p:txBody>
      </p:sp>
      <p:sp>
        <p:nvSpPr>
          <p:cNvPr id="25" name="Text 19"/>
          <p:cNvSpPr/>
          <p:nvPr/>
        </p:nvSpPr>
        <p:spPr>
          <a:xfrm>
            <a:off x="4572000" y="4956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data isn't altered or corrupted while traveling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138160" y="39319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AF9"/>
          </a:solidFill>
          <a:ln/>
        </p:spPr>
      </p:sp>
      <p:sp>
        <p:nvSpPr>
          <p:cNvPr id="27" name="Shape 21"/>
          <p:cNvSpPr/>
          <p:nvPr/>
        </p:nvSpPr>
        <p:spPr>
          <a:xfrm>
            <a:off x="8366760" y="4114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2140" y="4180180"/>
            <a:ext cx="372161" cy="37216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36676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000" dirty="0"/>
          </a:p>
        </p:txBody>
      </p:sp>
      <p:sp>
        <p:nvSpPr>
          <p:cNvPr id="30" name="Text 23"/>
          <p:cNvSpPr/>
          <p:nvPr/>
        </p:nvSpPr>
        <p:spPr>
          <a:xfrm>
            <a:off x="8366760" y="4956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confirm you're really talking to the intended website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548640" y="55321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padlock icon in the address bar — it indicates a valid HTTPS connection.</a:t>
            </a: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Basics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Markup Language — the standard language used to structure content on the Web.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842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2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HTML DOCUMENT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68680" y="2377440"/>
            <a:ext cx="4572000" cy="3429000"/>
          </a:xfrm>
          <a:prstGeom prst="roundRect">
            <a:avLst>
              <a:gd name="adj" fmla="val 2133"/>
            </a:avLst>
          </a:prstGeom>
          <a:solidFill>
            <a:srgbClr val="045C74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&lt;head&gt;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&lt;title&gt;My Page&lt;/title&gt;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&lt;/head&gt;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&lt;body&gt;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&lt;h1&gt;Hello, World!&lt;/h1&gt;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&lt;p&gt;This is a paragraph.&lt;/p&gt;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 href="page2.html"&gt;Next page&lt;/a&gt;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&lt;/body&gt;</a:t>
            </a:r>
            <a:endParaRPr lang="en-US" dirty="0"/>
          </a:p>
          <a:p>
            <a:pPr marL="0" indent="0">
              <a:lnSpc>
                <a:spcPct val="128000"/>
              </a:lnSpc>
              <a:buNone/>
            </a:pPr>
            <a:r>
              <a:rPr lang="en-US" dirty="0">
                <a:solidFill>
                  <a:srgbClr val="CFF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08076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140" y="1848460"/>
            <a:ext cx="372161" cy="37216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766560" y="1764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&amp; Tags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766560" y="2057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wrapped in tags like &lt;p&gt; and &lt;/p&gt;; most tags come in opening/closing pairs.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80760" y="27889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140" y="2854300"/>
            <a:ext cx="372161" cy="37216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66560" y="2770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766560" y="3063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information inside a tag, e.g. href in &lt;a href="..."&gt;, giving elements properties.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080760" y="3794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140" y="3860140"/>
            <a:ext cx="372161" cy="37216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37764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Nesting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6766560" y="4069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sit inside other elements, forming a hierarchical tree of content.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6080760" y="48006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6140" y="4865980"/>
            <a:ext cx="372161" cy="37216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66560" y="4782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6766560" y="50749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&lt;a&gt; tag connects pages together — the 'links' that make the Web a web.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Page Structure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HTML document forms a tree of nested elements — the Document Object Model (DOM).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937760" y="1874520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493776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&lt;html&gt;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743200" y="2743200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&lt;head&gt;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583680" y="2743200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&lt;body&gt;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474720" y="2331720"/>
            <a:ext cx="219456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2331720"/>
            <a:ext cx="164592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2331720"/>
            <a:ext cx="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20240" y="3611880"/>
            <a:ext cx="1371600" cy="457200"/>
          </a:xfrm>
          <a:prstGeom prst="roundRect">
            <a:avLst>
              <a:gd name="adj" fmla="val 14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920240" y="3611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&lt;title&gt;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606040" y="3200400"/>
            <a:ext cx="86868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0" y="3611880"/>
            <a:ext cx="1371600" cy="457200"/>
          </a:xfrm>
          <a:prstGeom prst="roundRect">
            <a:avLst>
              <a:gd name="adj" fmla="val 14000"/>
            </a:avLst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3611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&lt;h1&gt;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257800" y="3611880"/>
            <a:ext cx="1371600" cy="457200"/>
          </a:xfrm>
          <a:prstGeom prst="roundRect">
            <a:avLst>
              <a:gd name="adj" fmla="val 14000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3611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&lt;p&gt;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858000" y="3611880"/>
            <a:ext cx="1371600" cy="457200"/>
          </a:xfrm>
          <a:prstGeom prst="roundRect">
            <a:avLst>
              <a:gd name="adj" fmla="val 14000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11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&lt;a&gt;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8458200" y="3611880"/>
            <a:ext cx="1371600" cy="457200"/>
          </a:xfrm>
          <a:prstGeom prst="roundRect">
            <a:avLst>
              <a:gd name="adj" fmla="val 14000"/>
            </a:avLst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458200" y="3611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&lt;img&gt;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343400" y="3200400"/>
            <a:ext cx="297180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3200400"/>
            <a:ext cx="137160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0" y="3200400"/>
            <a:ext cx="22860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3200400"/>
            <a:ext cx="1828800" cy="41148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63040" y="43891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146304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23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Page"</a:t>
            </a: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2560320" y="4069080"/>
            <a:ext cx="45720" cy="32004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0480" y="43891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384048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23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</a:t>
            </a: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343400" y="4069080"/>
            <a:ext cx="594360" cy="320040"/>
          </a:xfrm>
          <a:prstGeom prst="line">
            <a:avLst/>
          </a:prstGeom>
          <a:noFill/>
          <a:ln w="15875">
            <a:solidFill>
              <a:srgbClr val="8FA6B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A9B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045C7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60" y="1894180"/>
            <a:ext cx="372161" cy="372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4708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physical/logical network; the Web is a service that runs on top of it.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263347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60" y="2698852"/>
            <a:ext cx="372161" cy="37216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6517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 interaction follows a client–server, request–response pattern.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40080" y="343814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460" y="3503524"/>
            <a:ext cx="372161" cy="37216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4564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request and render content; servers store, process, and deliver it.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60" y="4308196"/>
            <a:ext cx="372161" cy="37216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71600" y="42611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defines the rules of exchange; HTTPS adds encryption via TLS/SSL for safety.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640080" y="504748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460" y="5112868"/>
            <a:ext cx="372161" cy="37216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71600" y="506577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structures content into nested elements, forming the DOM tree of a page.</a:t>
            </a:r>
            <a:endParaRPr lang="en-US" sz="2000" dirty="0"/>
          </a:p>
        </p:txBody>
      </p:sp>
      <p:sp>
        <p:nvSpPr>
          <p:cNvPr id="20" name="Text 13"/>
          <p:cNvSpPr/>
          <p:nvPr/>
        </p:nvSpPr>
        <p:spPr>
          <a:xfrm>
            <a:off x="548640" y="5989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21" name="Text 14"/>
          <p:cNvSpPr/>
          <p:nvPr/>
        </p:nvSpPr>
        <p:spPr>
          <a:xfrm>
            <a:off x="8732520" y="4864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1527</Words>
  <Application>Microsoft Office PowerPoint</Application>
  <PresentationFormat>Widescreen</PresentationFormat>
  <Paragraphs>255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WWW &amp; Web Fundamentals</dc:title>
  <dc:subject>PptxGenJS Presentation</dc:subject>
  <dc:creator>Shanmughapriya</dc:creator>
  <cp:lastModifiedBy>Shanmughapriya M</cp:lastModifiedBy>
  <cp:revision>2</cp:revision>
  <dcterms:created xsi:type="dcterms:W3CDTF">2026-07-02T05:25:19Z</dcterms:created>
  <dcterms:modified xsi:type="dcterms:W3CDTF">2026-07-02T05:39:49Z</dcterms:modified>
</cp:coreProperties>
</file>